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Sequential</c:v>
                </c:pt>
              </c:strCache>
            </c:strRef>
          </c:tx>
          <c:spPr>
            <a:solidFill>
              <a:srgbClr val="0D1B2A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100K/10</c:v>
                </c:pt>
                <c:pt idx="1">
                  <c:v>100K/20</c:v>
                </c:pt>
                <c:pt idx="2">
                  <c:v>500K/10</c:v>
                </c:pt>
                <c:pt idx="3">
                  <c:v>500K/20</c:v>
                </c:pt>
                <c:pt idx="4">
                  <c:v>1M/10</c:v>
                </c:pt>
                <c:pt idx="5">
                  <c:v>1M/20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3.57</c:v>
                </c:pt>
                <c:pt idx="1">
                  <c:v>5.68</c:v>
                </c:pt>
                <c:pt idx="2">
                  <c:v>12.75</c:v>
                </c:pt>
                <c:pt idx="3">
                  <c:v>22.4</c:v>
                </c:pt>
                <c:pt idx="4">
                  <c:v>22.74</c:v>
                </c:pt>
                <c:pt idx="5">
                  <c:v>40.659999999999997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05E-4F3F-802B-98E2B641C0E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Parallel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100K/10</c:v>
                </c:pt>
                <c:pt idx="1">
                  <c:v>100K/20</c:v>
                </c:pt>
                <c:pt idx="2">
                  <c:v>500K/10</c:v>
                </c:pt>
                <c:pt idx="3">
                  <c:v>500K/20</c:v>
                </c:pt>
                <c:pt idx="4">
                  <c:v>1M/10</c:v>
                </c:pt>
                <c:pt idx="5">
                  <c:v>1M/20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2.74</c:v>
                </c:pt>
                <c:pt idx="1">
                  <c:v>4.04</c:v>
                </c:pt>
                <c:pt idx="2">
                  <c:v>6.4</c:v>
                </c:pt>
                <c:pt idx="3">
                  <c:v>12.13</c:v>
                </c:pt>
                <c:pt idx="4">
                  <c:v>12.13</c:v>
                </c:pt>
                <c:pt idx="5">
                  <c:v>21.4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05E-4F3F-802B-98E2B641C0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3068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943600" y="457200"/>
            <a:ext cx="64008" cy="64008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46520" y="457200"/>
            <a:ext cx="64008" cy="64008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949440" y="457200"/>
            <a:ext cx="64008" cy="64008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452360" y="457200"/>
            <a:ext cx="64008" cy="64008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955280" y="457200"/>
            <a:ext cx="64008" cy="64008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458200" y="457200"/>
            <a:ext cx="64008" cy="64008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943600" y="960120"/>
            <a:ext cx="64008" cy="64008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46520" y="960120"/>
            <a:ext cx="64008" cy="64008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949440" y="960120"/>
            <a:ext cx="64008" cy="64008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452360" y="960120"/>
            <a:ext cx="64008" cy="64008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955280" y="960120"/>
            <a:ext cx="64008" cy="64008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458200" y="960120"/>
            <a:ext cx="64008" cy="64008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943600" y="1463040"/>
            <a:ext cx="64008" cy="64008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446520" y="1463040"/>
            <a:ext cx="64008" cy="64008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949440" y="1463040"/>
            <a:ext cx="64008" cy="64008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452360" y="1463040"/>
            <a:ext cx="64008" cy="64008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955280" y="1463040"/>
            <a:ext cx="64008" cy="64008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458200" y="1463040"/>
            <a:ext cx="64008" cy="64008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943600" y="1965960"/>
            <a:ext cx="64008" cy="64008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446520" y="1965960"/>
            <a:ext cx="64008" cy="64008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949440" y="1965960"/>
            <a:ext cx="64008" cy="64008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452360" y="1965960"/>
            <a:ext cx="64008" cy="64008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955280" y="1965960"/>
            <a:ext cx="64008" cy="64008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458200" y="1965960"/>
            <a:ext cx="64008" cy="64008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0080" y="10058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Algorithm</a:t>
            </a:r>
            <a:endParaRPr lang="en-US" sz="4200" dirty="0"/>
          </a:p>
        </p:txBody>
      </p:sp>
      <p:sp>
        <p:nvSpPr>
          <p:cNvPr id="28" name="Text 26"/>
          <p:cNvSpPr/>
          <p:nvPr/>
        </p:nvSpPr>
        <p:spPr>
          <a:xfrm>
            <a:off x="640080" y="19202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Implementation &amp; Speedup Analysis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40080" y="29260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Daniyal Qureshi — 23I-0645</a:t>
            </a:r>
          </a:p>
          <a:p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Zia Ul Baqa — 23I-0606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and Distributed Computing  |  Spring 2026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943600" y="4480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· OpenMP · HPC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Introduction — Problem Area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efficient clustering matter?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521208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is a foundational unsupervised ML task: grouping N data points into K meaningful clusters.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everywhere — image segmentation, bioinformatics, market segmentation, real-time analytics.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datasets grow to millions of points, the naive sequential K-Means becomes a bottleneck.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execution on multi-core CPUs is a natural and practical solution for this class of algorithms.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852160" y="1051560"/>
            <a:ext cx="2926080" cy="3703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89320" y="11430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Steps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89320" y="157276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Generate N random points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89320" y="212140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Place K centroids randomly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89320" y="267004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Assign each point to nearest centroid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89320" y="321868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Recompute centroid positions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89320" y="376732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Repeat ③–④ until convergence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Core Idea — Types of Parallelism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the algorithm offer room for parallel execution?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651760" cy="3474720"/>
          </a:xfrm>
          <a:prstGeom prst="rect">
            <a:avLst/>
          </a:prstGeom>
          <a:solidFill>
            <a:srgbClr val="F0F6FA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54864" cy="3474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Parallelism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435608"/>
            <a:ext cx="2468880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the N points independently computes its distance to K centroids. No point depends on another. The outer loop over points is fully parallelizable.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051560"/>
            <a:ext cx="2651760" cy="3474720"/>
          </a:xfrm>
          <a:prstGeom prst="rect">
            <a:avLst/>
          </a:prstGeom>
          <a:solidFill>
            <a:srgbClr val="F0F6FA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46120" y="1051560"/>
            <a:ext cx="54864" cy="347472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83280" y="11430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Independence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1435608"/>
            <a:ext cx="2468880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compute_distance() dominates (≈1.075 s). update_clusters() is negligible (≈0.000001 s). Focus parallelism on the bottleneck function only.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051560"/>
            <a:ext cx="2651760" cy="3474720"/>
          </a:xfrm>
          <a:prstGeom prst="rect">
            <a:avLst/>
          </a:prstGeom>
          <a:solidFill>
            <a:srgbClr val="F0F6FA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126480" y="1051560"/>
            <a:ext cx="54864" cy="347472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63640" y="11430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Barrier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63640" y="1435608"/>
            <a:ext cx="2468880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iterations, all threads must synchronize before centroids are updated. This creates a natural barrier — but only once per iteration.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Core Idea — Parallelization Strategy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 → Assignment → Orchestration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530352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Decomposition: Points are partitioned across threads (domain decomposition on N).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Assignment: Each thread owns a contiguous chunk of points (static scheduling — equal work per point).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Orchestration: OpenMP #pragma omp parallel + for with shared point/cluster vectors.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Synchronization: #pragma omp critical protects cluster.add_point() to avoid race conditions on shared cluster state.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Termination: Convergence flag (conv) checked after each full iteration; threads synchronize at implicit barrier.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852160" y="1097280"/>
            <a:ext cx="274320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852160" y="10972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[0…N]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223760" y="1645920"/>
            <a:ext cx="0" cy="1828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126480" y="1828800"/>
            <a:ext cx="2468880" cy="54864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126480" y="1828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0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[0…N/P]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223760" y="2377440"/>
            <a:ext cx="0" cy="1828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126480" y="2560320"/>
            <a:ext cx="2468880" cy="54864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126480" y="25603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[N/P…2N/P]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223760" y="3108960"/>
            <a:ext cx="0" cy="1828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26480" y="3291840"/>
            <a:ext cx="2468880" cy="54864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26480" y="32918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P-1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[…N]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223760" y="3840480"/>
            <a:ext cx="0" cy="1828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852160" y="4023360"/>
            <a:ext cx="2743200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852160" y="40233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Merge: update_clusters()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Core Idea — Data Locality &amp; Cache Utilization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memory access patterns affect performance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530352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are stored in a std::vector&lt;Point&gt; accessed sequentially — excellent spatial locality for the outer loop.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scheduling maps contiguous point ranges to each thread — avoids false sharing between threads.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vector (size K, typically small) fits in L1/L2 cache and is shared read-only during distance computation.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critical section (add_point) only touches one cluster entry per point — contention is low when K is large.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min_distance and min_index are thread-private — correct, but the struct layout may cause false sharing on some architectures.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852160" y="1051560"/>
            <a:ext cx="2926080" cy="3657600"/>
          </a:xfrm>
          <a:prstGeom prst="rect">
            <a:avLst/>
          </a:prstGeom>
          <a:solidFill>
            <a:srgbClr val="F0F6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89320" y="1143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Layout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89320" y="1508760"/>
            <a:ext cx="2651760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89320" y="1508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Cache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89320" y="1856232"/>
            <a:ext cx="2651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Thread-local vars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(min_dist, min_idx)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89320" y="2514600"/>
            <a:ext cx="2651760" cy="77724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89320" y="25146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Cache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89320" y="2862072"/>
            <a:ext cx="2651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vector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(shared, read-only)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89320" y="3520440"/>
            <a:ext cx="265176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89320" y="35204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89320" y="3867912"/>
            <a:ext cx="2651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vector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 × 3 doubles)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Approach — How the Paper Solves It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sequential baseline → OpenMP parallel version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4114800" cy="3749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Approach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39319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Initialize N points &amp; K centroids randomly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Loop while not converged: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compute_distance(): nested for over N×K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update_clusters(): recalculate centroids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Stop at max iterations or cluster stability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051560"/>
            <a:ext cx="4114800" cy="374904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46320" y="11430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Approach (OpenMP)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1554480"/>
            <a:ext cx="39319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Same initialization (single thread)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Loop while not converged: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Parallel for over N points (static sched.)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Private: min_dist, min_idx per thread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Critical section: add_point() only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Sequential update_clusters() (negligible cost)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Approach — Experiments &amp; Speedup Results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20 iterations · 2-core machine · varying N and K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256032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 Total (s)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 Total (s)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Speedup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B6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1.30×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B6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1.41×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12.75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B6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1.99×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B6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1.85×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22.74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B6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1.88×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40.66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B6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1.90×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6" name="Chart 0"/>
          <p:cNvGraphicFramePr/>
          <p:nvPr/>
        </p:nvGraphicFramePr>
        <p:xfrm>
          <a:off x="365760" y="3657600"/>
          <a:ext cx="8412480" cy="1325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Gap / Opportunity Identified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and what could be done better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4114800" cy="1783080"/>
          </a:xfrm>
          <a:prstGeom prst="rect">
            <a:avLst/>
          </a:prstGeom>
          <a:solidFill>
            <a:srgbClr val="F0F6FA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54864" cy="1783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GPU parallelism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435608"/>
            <a:ext cx="393192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OpenMP targets CPU cores only. GPU-based K-Means (CUDA/OpenCL) can exploit thousands of cores for massive 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4114800" cy="1783080"/>
          </a:xfrm>
          <a:prstGeom prst="rect">
            <a:avLst/>
          </a:prstGeom>
          <a:solidFill>
            <a:srgbClr val="F0F6FA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54864" cy="17830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92040" y="11430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scheduling only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435608"/>
            <a:ext cx="393192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non-uniform cluster sizes, static scheduling may imbalance load. Dynamic or guided scheduling could improve wall time.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3017520"/>
            <a:ext cx="4114800" cy="1783080"/>
          </a:xfrm>
          <a:prstGeom prst="rect">
            <a:avLst/>
          </a:prstGeom>
          <a:solidFill>
            <a:srgbClr val="F0F6FA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" y="3017520"/>
            <a:ext cx="54864" cy="17830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3108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SIMD optimization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401568"/>
            <a:ext cx="393192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Euclidean distance is a FLOP-heavy operation; AVX2/SSE vectorization of the inner loop would yield further speedup.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3017520"/>
            <a:ext cx="4114800" cy="1783080"/>
          </a:xfrm>
          <a:prstGeom prst="rect">
            <a:avLst/>
          </a:prstGeom>
          <a:solidFill>
            <a:srgbClr val="F0F6FA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54880" y="3017520"/>
            <a:ext cx="54864" cy="1783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92040" y="3108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layout (AoS vs SoA)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3401568"/>
            <a:ext cx="393192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of Structs layout for Point hurts cache efficiency. Struct of Arrays (SoA) would allow better vectorization and prefetching.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Proposed Approach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implement, adapt, or evaluate beyond the original work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52120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SoA (Struct of Arrays) memory layout for Point data to improve cache line utilization and enable SIMD.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static vs dynamic vs guided OpenMP scheduling across different N/K ratios to identify optimal strategy.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SIMD-accelerated Euclidean distance using AVX2 intrinsics and compare to the scalar baseline.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GPU parallelism with CUDA: map each point to a CUDA thread, use shared memory for centroids.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and plot strong scaling (fixed N, varying threads) and weak scaling (N grows with thread count).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0" y="1097280"/>
            <a:ext cx="1005840" cy="640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0" y="10972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040880" y="1143000"/>
            <a:ext cx="1828800" cy="548640"/>
          </a:xfrm>
          <a:prstGeom prst="rect">
            <a:avLst/>
          </a:prstGeom>
          <a:solidFill>
            <a:srgbClr val="F0F6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086600" y="11430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Layout + SIMD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46520" y="1737360"/>
            <a:ext cx="0" cy="22860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943600" y="1965960"/>
            <a:ext cx="1005840" cy="6400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0" y="196596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040880" y="2011680"/>
            <a:ext cx="1828800" cy="548640"/>
          </a:xfrm>
          <a:prstGeom prst="rect">
            <a:avLst/>
          </a:prstGeom>
          <a:solidFill>
            <a:srgbClr val="F0F6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086600" y="20116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Sweep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46520" y="2606040"/>
            <a:ext cx="0" cy="22860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943600" y="2834640"/>
            <a:ext cx="1005840" cy="6400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600" y="283464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040880" y="2880360"/>
            <a:ext cx="1828800" cy="548640"/>
          </a:xfrm>
          <a:prstGeom prst="rect">
            <a:avLst/>
          </a:prstGeom>
          <a:solidFill>
            <a:srgbClr val="F0F6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086600" y="28803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(CUDA)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46520" y="3474720"/>
            <a:ext cx="0" cy="22860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943600" y="3703320"/>
            <a:ext cx="100584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943600" y="370332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040880" y="3749040"/>
            <a:ext cx="1828800" cy="548640"/>
          </a:xfrm>
          <a:prstGeom prst="rect">
            <a:avLst/>
          </a:prstGeom>
          <a:solidFill>
            <a:srgbClr val="F0F6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086600" y="37490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Analysis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Preliminary Plan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· Languages · Platform · Timeline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697480" cy="3291840"/>
          </a:xfrm>
          <a:prstGeom prst="rect">
            <a:avLst/>
          </a:prstGeom>
          <a:solidFill>
            <a:srgbClr val="F0F6FA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54864" cy="329184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&amp; Libraries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435608"/>
            <a:ext cx="2514600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(C++17)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OpenMP 4.5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AVX2 Intrinsics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 12 (Phase 3)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gnuplot for visualization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051560"/>
            <a:ext cx="2697480" cy="3291840"/>
          </a:xfrm>
          <a:prstGeom prst="rect">
            <a:avLst/>
          </a:prstGeom>
          <a:solidFill>
            <a:srgbClr val="F0F6FA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46120" y="1051560"/>
            <a:ext cx="54864" cy="3291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83280" y="114300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&amp; Tools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1435608"/>
            <a:ext cx="2514600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Multi-core Linux workstation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 with -O2 -fopenmp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NVCC for CUDA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Valgrind / perf for profiling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for version control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697480" cy="3291840"/>
          </a:xfrm>
          <a:prstGeom prst="rect">
            <a:avLst/>
          </a:prstGeom>
          <a:solidFill>
            <a:srgbClr val="F0F6FA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172200" y="1051560"/>
            <a:ext cx="54864" cy="329184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09360" y="114300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1435608"/>
            <a:ext cx="2514600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Wall-clock time (omp_get_wtime)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 = T_seq / T_par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= Speedup / P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Amdahl bound comparison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quality (SSE)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4434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Timeline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4754880"/>
            <a:ext cx="1965960" cy="27432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5760" y="47548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1–2: SoA refactor + SIMD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514600" y="4754880"/>
            <a:ext cx="1965960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514600" y="47548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3: Scheduling experiments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4754880"/>
            <a:ext cx="1965960" cy="27432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663440" y="47548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4: CUDA port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812280" y="4754880"/>
            <a:ext cx="1965960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812280" y="47548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5–6: Benchmarking &amp; report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1887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is embarrassingly parallel at the per-point level — ideal for shared-memory parallelism.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0120" y="18745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OpenMP with static scheduling on the outer loop achieves ~2× speedup on a 2-core machine.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606040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60120" y="25603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 is entirely in compute_distance() — update_clusters() is negligible.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291840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60120" y="32461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layout (AoS) and lack of SIMD are the clearest opportunities for further gain.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977640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60120" y="39319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steps: SoA layout, SIMD, dynamic scheduling, and GPU acceleration.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47548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Alessandro Sestini  ·  K-Means Parallel Implementation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1199</Words>
  <Application>Microsoft Office PowerPoint</Application>
  <PresentationFormat>On-screen Show (16:9)</PresentationFormat>
  <Paragraphs>178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K-Means Algorithm: Parallel Implementation &amp; Speedup Analysis</dc:title>
  <dc:subject>PptxGenJS Presentation</dc:subject>
  <dc:creator>PptxGenJS</dc:creator>
  <cp:lastModifiedBy>Daniyal Qureshi</cp:lastModifiedBy>
  <cp:revision>3</cp:revision>
  <dcterms:created xsi:type="dcterms:W3CDTF">2026-04-26T16:51:32Z</dcterms:created>
  <dcterms:modified xsi:type="dcterms:W3CDTF">2026-04-26T17:02:55Z</dcterms:modified>
</cp:coreProperties>
</file>